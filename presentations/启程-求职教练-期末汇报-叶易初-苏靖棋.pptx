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99d09eddc344bd" /><Relationship Type="http://schemas.openxmlformats.org/officeDocument/2006/relationships/extended-properties" Target="/docProps/app.xml" Id="R5726b5d14057431f" /><Relationship Type="http://schemas.openxmlformats.org/officeDocument/2006/relationships/officeDocument" Target="/ppt/presentation.xml" Id="R2e6cb61248304a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e996aadd26429b"/>
  </p:sldMasterIdLst>
  <p:notesMasterIdLst>
    <p:notesMasterId xmlns:r="http://schemas.openxmlformats.org/officeDocument/2006/relationships" r:id="Rbed98ac50f4943ea"/>
  </p:notesMasterIdLst>
  <p:sldIdLst>
    <p:sldId xmlns:r="http://schemas.openxmlformats.org/officeDocument/2006/relationships" id="256" r:id="Rbc13e9e8633d4660"/>
    <p:sldId xmlns:r="http://schemas.openxmlformats.org/officeDocument/2006/relationships" id="257" r:id="Ra740979a0baf482b"/>
    <p:sldId xmlns:r="http://schemas.openxmlformats.org/officeDocument/2006/relationships" id="258" r:id="Re7358d1020094a6b"/>
    <p:sldId xmlns:r="http://schemas.openxmlformats.org/officeDocument/2006/relationships" id="259" r:id="R5e3972c3bacb4ded"/>
    <p:sldId xmlns:r="http://schemas.openxmlformats.org/officeDocument/2006/relationships" id="260" r:id="Rfdaf1178d0074307"/>
    <p:sldId xmlns:r="http://schemas.openxmlformats.org/officeDocument/2006/relationships" id="261" r:id="R7229c5bc2e3d412a"/>
    <p:sldId xmlns:r="http://schemas.openxmlformats.org/officeDocument/2006/relationships" id="262" r:id="Rf283daedba4d473c"/>
    <p:sldId xmlns:r="http://schemas.openxmlformats.org/officeDocument/2006/relationships" id="263" r:id="R7e483f4173f248a7"/>
    <p:sldId xmlns:r="http://schemas.openxmlformats.org/officeDocument/2006/relationships" id="264" r:id="R7d5a703be8ac4efa"/>
    <p:sldId xmlns:r="http://schemas.openxmlformats.org/officeDocument/2006/relationships" id="265" r:id="Rdaa5fc5436fb44e8"/>
    <p:sldId xmlns:r="http://schemas.openxmlformats.org/officeDocument/2006/relationships" id="266" r:id="Rb5dbf7a6854448a3"/>
    <p:sldId xmlns:r="http://schemas.openxmlformats.org/officeDocument/2006/relationships" id="267" r:id="R6f34be35ccdd448d"/>
  </p:sldIdLst>
  <p:sldSz cx="13716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0e46e4f8274d72" /><Relationship Type="http://schemas.openxmlformats.org/officeDocument/2006/relationships/slideMaster" Target="/ppt/slideMasters/slideMaster1.xml" Id="R39e996aadd26429b" /><Relationship Type="http://schemas.openxmlformats.org/officeDocument/2006/relationships/notesMaster" Target="/ppt/notesMasters/notesMaster1.xml" Id="Rbed98ac50f4943ea" /><Relationship Type="http://schemas.openxmlformats.org/officeDocument/2006/relationships/presProps" Target="/ppt/presProps.xml" Id="Rc5f4e753991640a9" /><Relationship Type="http://schemas.openxmlformats.org/officeDocument/2006/relationships/tableStyles" Target="/ppt/tableStyles.xml" Id="R5ae19bfa5cf94b32" /><Relationship Type="http://schemas.openxmlformats.org/officeDocument/2006/relationships/slide" Target="/ppt/slides/slide1.xml" Id="Rbc13e9e8633d4660" /><Relationship Type="http://schemas.openxmlformats.org/officeDocument/2006/relationships/slide" Target="/ppt/slides/slide2.xml" Id="Ra740979a0baf482b" /><Relationship Type="http://schemas.openxmlformats.org/officeDocument/2006/relationships/slide" Target="/ppt/slides/slide3.xml" Id="Re7358d1020094a6b" /><Relationship Type="http://schemas.openxmlformats.org/officeDocument/2006/relationships/slide" Target="/ppt/slides/slide4.xml" Id="R5e3972c3bacb4ded" /><Relationship Type="http://schemas.openxmlformats.org/officeDocument/2006/relationships/slide" Target="/ppt/slides/slide5.xml" Id="Rfdaf1178d0074307" /><Relationship Type="http://schemas.openxmlformats.org/officeDocument/2006/relationships/slide" Target="/ppt/slides/slide6.xml" Id="R7229c5bc2e3d412a" /><Relationship Type="http://schemas.openxmlformats.org/officeDocument/2006/relationships/slide" Target="/ppt/slides/slide7.xml" Id="Rf283daedba4d473c" /><Relationship Type="http://schemas.openxmlformats.org/officeDocument/2006/relationships/slide" Target="/ppt/slides/slide8.xml" Id="R7e483f4173f248a7" /><Relationship Type="http://schemas.openxmlformats.org/officeDocument/2006/relationships/slide" Target="/ppt/slides/slide9.xml" Id="R7d5a703be8ac4efa" /><Relationship Type="http://schemas.openxmlformats.org/officeDocument/2006/relationships/slide" Target="/ppt/slides/slide10.xml" Id="Rdaa5fc5436fb44e8" /><Relationship Type="http://schemas.openxmlformats.org/officeDocument/2006/relationships/slide" Target="/ppt/slides/slide11.xml" Id="Rb5dbf7a6854448a3" /><Relationship Type="http://schemas.openxmlformats.org/officeDocument/2006/relationships/slide" Target="/ppt/slides/slide12.xml" Id="R6f34be35ccdd44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b411f711b64e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14d9183c194e8e" /><Relationship Type="http://schemas.openxmlformats.org/officeDocument/2006/relationships/notesMaster" Target="/ppt/notesMasters/notesMaster1.xml" Id="R7b480a463d6c49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dace8e7e104258" /><Relationship Type="http://schemas.openxmlformats.org/officeDocument/2006/relationships/notesMaster" Target="/ppt/notesMasters/notesMaster1.xml" Id="Rcff79388dfc24a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4e2f3828cc4b91" /><Relationship Type="http://schemas.openxmlformats.org/officeDocument/2006/relationships/notesMaster" Target="/ppt/notesMasters/notesMaster1.xml" Id="Rda61f0bd441443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f337490e7a4165" /><Relationship Type="http://schemas.openxmlformats.org/officeDocument/2006/relationships/notesMaster" Target="/ppt/notesMasters/notesMaster1.xml" Id="R1162cdbe5bed44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9d6f5c10294bb4" /><Relationship Type="http://schemas.openxmlformats.org/officeDocument/2006/relationships/notesMaster" Target="/ppt/notesMasters/notesMaster1.xml" Id="Rc71ce191ef804d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051bfab6724d92" /><Relationship Type="http://schemas.openxmlformats.org/officeDocument/2006/relationships/notesMaster" Target="/ppt/notesMasters/notesMaster1.xml" Id="Re3a4991a26e040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1f503e02674524" /><Relationship Type="http://schemas.openxmlformats.org/officeDocument/2006/relationships/notesMaster" Target="/ppt/notesMasters/notesMaster1.xml" Id="R62bed58012ab4b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8124b291384124" /><Relationship Type="http://schemas.openxmlformats.org/officeDocument/2006/relationships/notesMaster" Target="/ppt/notesMasters/notesMaster1.xml" Id="Re4a7d709ed0143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e673f8e7a445d3" /><Relationship Type="http://schemas.openxmlformats.org/officeDocument/2006/relationships/notesMaster" Target="/ppt/notesMasters/notesMaster1.xml" Id="R63d18be2363f40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86e280a2704e98" /><Relationship Type="http://schemas.openxmlformats.org/officeDocument/2006/relationships/notesMaster" Target="/ppt/notesMasters/notesMaster1.xml" Id="R3de86018183249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faa063edf04c35" /><Relationship Type="http://schemas.openxmlformats.org/officeDocument/2006/relationships/notesMaster" Target="/ppt/notesMasters/notesMaster1.xml" Id="R8ba3b249153145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b7fac8a8934170" /><Relationship Type="http://schemas.openxmlformats.org/officeDocument/2006/relationships/notesMaster" Target="/ppt/notesMasters/notesMaster1.xml" Id="Rd60588bc67854c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约20秒。项目名为启程，选择路径B。为计算机与工科学生提供求职准备工作台。演示使用虚构档案，封面姓名学号不作为样例简历内容。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约20秒。聚焦学生从材料到行动的重复工作。不是自动替学生找工作，也不声称已做用户调研或提高录用率。首次使用先明确目标岗位。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约30秒。架构图是实际分层。自建轻量Agent，不使用LangGraph、MCP或Agent Skills。普通界面独立可用，模型返回结构化调用后由业务服务执行。下方支路表示普通操作和人工确认。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约25秒。文档解析只提取文本。扫描PDF没有可用文字时明确报错，可改为粘贴。知识库内容只是数据，不能覆盖系统指令。个人材料与JD/范例的用途必须分开。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约25秒。表格文字是说明口径的虚构示例，不是作者经历或实测结果。业务服务按显式技能与个人证据计算覆盖率。词表未覆盖的要求应人工阅读JD，不能把分数当招聘决策。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先从个人材料提取有证据的技能，再比较手动维护的岗位库。推荐引擎使用明确的同义词和相关技术关系，尚未使用通用向量语义检索。相关技术仅计部分匹配，缺口仍保留。雷达图表示材料证据覆盖，不能当作真实能力测验。公司技术与业务方向只依据录入资料，缺失文化信息不猜测。推荐清单没有向企业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约25秒。为适应轻量Qwen3，analyze_fit工具支持export_kind参数。模型一次返回该真实工具调用，适配层依次调用匹配和导出业务函数。界面只有一条模型调用，不能把内部多个业务操作冒充多次Tool Calling。独立简历和导出工具仍可使用。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约25秒。当前采用事实整理与模板表达，而不是无约束地让小模型自由润色。缺少成果就保留待补项，不能为了看起来优秀而编造百分比。导出后仍需本人校对。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约25秒。面试练习聚焦回答结构和证据完整度，不宣称所有技术问题都可准确评分。台账的“已投递”是用户确认的记录，不是程序帮用户向企业提交。材料包是复用起点，尚有待确认内容时不能直接投递。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约25秒。参考课程仓库demo_2/ollama_lab/exp10_tool_calling.py。业务接口和来源规则为本项目增量。没有把普通提示词称为Agent Skill。披露AI协助，说明学生要亲自演示并解释核心逻辑。来源：https://gitcode.com/nicezack/ai-opensource-practice-course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约20秒。切到运行中的网页开始约4分钟演示。新增推荐引擎先用虚构岗位展示证据、排序、差距和清单下载，再演示真实工具调用。模型失效时如实说明，普通按钮不能冒充模型调用。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20秒。按实际状态说明技能矩阵。文本型PDF解析与Excel格式导出已经具备，但图片OCR、PPT或Excel作为输入的解析尚未实现。现有参数和来源校验不等同完整语义结果验证。主动提醒、多平台汇总和通用向量检索属于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来源：本项目实现与README。课程要求：https://gitcode.com/nicezack/ai-opensource-practice-course/blob/main/期末考查要求.md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596eac3dd42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fb247456242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cba99397e4f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88030d7b74a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c6a52402346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07cec3adc4a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4784F8-291B-41F2-BADB-88B1A8EDB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38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99D5A8-EAF0-4ECD-8A87-DD2C1588C0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714875"/>
            <a:ext cx="9601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B14E5A-BFF2-4B0D-9A3D-209DE56D95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571875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FBC09A-23A1-4B61-8E83-86628A8201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66750"/>
            <a:ext cx="12172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309BE7-63CE-4B40-B3F4-3A6D57AD76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381250"/>
            <a:ext cx="12172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4D1007-D111-4446-9036-446283E2F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66750"/>
            <a:ext cx="12172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5BED0C-74A8-4FDF-8271-386E796195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381250"/>
            <a:ext cx="56578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8C0F74-DD38-4BD1-BF8C-39B46F96C0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381250"/>
            <a:ext cx="56578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1EF4E5-7184-43DB-A3DA-0054F3906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66750"/>
            <a:ext cx="12172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097B8E-2A10-4A41-8847-0EFEB5D8C9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381250"/>
            <a:ext cx="56578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9879eed507460a" /><Relationship Type="http://schemas.openxmlformats.org/officeDocument/2006/relationships/slideLayout" Target="/ppt/slideLayouts/slideLayout1.xml" Id="R3cadcc4a44d345a3" /><Relationship Type="http://schemas.openxmlformats.org/officeDocument/2006/relationships/slideLayout" Target="/ppt/slideLayouts/slideLayout2.xml" Id="R3bb79f712d5f48d1" /><Relationship Type="http://schemas.openxmlformats.org/officeDocument/2006/relationships/slideLayout" Target="/ppt/slideLayouts/slideLayout3.xml" Id="R062d52bbbbe1420b" /><Relationship Type="http://schemas.openxmlformats.org/officeDocument/2006/relationships/slideLayout" Target="/ppt/slideLayouts/slideLayout4.xml" Id="R33726994899e429b" /><Relationship Type="http://schemas.openxmlformats.org/officeDocument/2006/relationships/slideLayout" Target="/ppt/slideLayouts/slideLayout5.xml" Id="Rb3fff7cdb6e5403f" /><Relationship Type="http://schemas.openxmlformats.org/officeDocument/2006/relationships/slideLayout" Target="/ppt/slideLayouts/slideLayout6.xml" Id="Re541fe7ecff04c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adcc4a44d345a3"/>
    <p:sldLayoutId xmlns:r="http://schemas.openxmlformats.org/officeDocument/2006/relationships" id="2147483650" r:id="R3bb79f712d5f48d1"/>
    <p:sldLayoutId xmlns:r="http://schemas.openxmlformats.org/officeDocument/2006/relationships" id="2147483651" r:id="R062d52bbbbe1420b"/>
    <p:sldLayoutId xmlns:r="http://schemas.openxmlformats.org/officeDocument/2006/relationships" id="2147483652" r:id="R33726994899e429b"/>
    <p:sldLayoutId xmlns:r="http://schemas.openxmlformats.org/officeDocument/2006/relationships" id="2147483653" r:id="Rb3fff7cdb6e5403f"/>
    <p:sldLayoutId xmlns:r="http://schemas.openxmlformats.org/officeDocument/2006/relationships" id="2147483654" r:id="Re541fe7ecff04c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556fb690e41d2" /><Relationship Type="http://schemas.openxmlformats.org/officeDocument/2006/relationships/notesSlide" Target="/ppt/notesSlides/notesSlide1.xml" Id="R67b7b6ea31b84e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0683fb7f34a1d" /><Relationship Type="http://schemas.openxmlformats.org/officeDocument/2006/relationships/notesSlide" Target="/ppt/notesSlides/notesSlide2.xml" Id="R38e7deeee57444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998589299540d8" /><Relationship Type="http://schemas.openxmlformats.org/officeDocument/2006/relationships/notesSlide" Target="/ppt/notesSlides/notesSlide3.xml" Id="R7c9b7d5e7a1043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33d69751d4274" /><Relationship Type="http://schemas.openxmlformats.org/officeDocument/2006/relationships/notesSlide" Target="/ppt/notesSlides/notesSlide4.xml" Id="Rffb77af6e5ef4a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8cc02981c4a55" /><Relationship Type="http://schemas.openxmlformats.org/officeDocument/2006/relationships/notesSlide" Target="/ppt/notesSlides/notesSlide5.xml" Id="R30c289027d564d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f6823b0d14d7d" /><Relationship Type="http://schemas.openxmlformats.org/officeDocument/2006/relationships/notesSlide" Target="/ppt/notesSlides/notesSlide6.xml" Id="R34ad2688f82443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9db057cea4cc1" /><Relationship Type="http://schemas.openxmlformats.org/officeDocument/2006/relationships/notesSlide" Target="/ppt/notesSlides/notesSlide7.xml" Id="R8b339d2dbfa947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38fb039b14c89" /><Relationship Type="http://schemas.openxmlformats.org/officeDocument/2006/relationships/notesSlide" Target="/ppt/notesSlides/notesSlide8.xml" Id="Re082d312a01741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ed75ec0df4aec" /><Relationship Type="http://schemas.openxmlformats.org/officeDocument/2006/relationships/notesSlide" Target="/ppt/notesSlides/notesSlide9.xml" Id="Rcbbb5af4557b47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db02a1666478c" /><Relationship Type="http://schemas.openxmlformats.org/officeDocument/2006/relationships/notesSlide" Target="/ppt/notesSlides/notesSlide10.xml" Id="R1616845ce6f44c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e864eb65c4469d" /><Relationship Type="http://schemas.openxmlformats.org/officeDocument/2006/relationships/notesSlide" Target="/ppt/notesSlides/notesSlide11.xml" Id="R8df2d5082bd04b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9e8d820ba41ea" /><Relationship Type="http://schemas.openxmlformats.org/officeDocument/2006/relationships/notesSlide" Target="/ppt/notesSlides/notesSlide12.xml" Id="R03ad8ac7158747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97958738-1CD4-46DA-A3EC-50C754EE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47750"/>
            <a:ext cx="1181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C4"/>
                </a:solidFill>
                <a:latin typeface="Microsoft YaHei"/>
                <a:ea typeface="Microsoft YaHei"/>
                <a:cs typeface="Microsoft YaHei"/>
              </a:rPr>
              <a:t>开源 AI 技术实践  期末项目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B00B29D9-691D-4A37-A1F2-035E5C9D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181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rPr>
              <a:t>启程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2F9992B6-7EA5-481A-9A1E-1387E7AC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4F3E8"/>
                </a:solidFill>
                <a:latin typeface="Microsoft YaHei"/>
                <a:ea typeface="Microsoft YaHei"/>
                <a:cs typeface="Microsoft YaHei"/>
              </a:rPr>
              <a:t>求职教练型智能体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4B724009-5BAF-4D04-B9D0-23A8F160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95875"/>
            <a:ext cx="1171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rPr>
              <a:t>先明确目标岗位，再把真实材料整理成求职行动。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2F89C223-D288-4170-9471-985474C7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952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rPr>
              <a:t>叶易初   f25011538</a:t>
            </a:r>
          </a:p>
          <a:p xmlns:a="http://schemas.openxmlformats.org/drawingml/2006/main">
            <a: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rPr>
              <a:t>苏靖棋   f25011531</a:t>
            </a:r>
          </a:p>
          <a:p xmlns:a="http://schemas.openxmlformats.org/drawingml/2006/main">
            <a:pPr algn="l">
              <a:def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2DDCE"/>
                </a:solidFill>
                <a:latin typeface="Microsoft YaHei"/>
                <a:ea typeface="Microsoft YaHei"/>
                <a:cs typeface="Microsoft YaHei"/>
              </a:rPr>
              <a:t>双人项目   路径 B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5C4675-D0FB-4367-A913-2490F4AC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A8"/>
                </a:solidFill>
                <a:latin typeface="Microsoft YaHei"/>
                <a:ea typeface="Microsoft YaHei"/>
                <a:cs typeface="Microsoft YaHei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379465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ing">
            <a:extLst xmlns:a="http://schemas.openxmlformats.org/drawingml/2006/main">
              <a:ext uri="{FF2B5EF4-FFF2-40B4-BE49-F238E27FC236}">
                <a16:creationId xmlns:a16="http://schemas.microsoft.com/office/drawing/2014/main" id="{2C2A5F3A-96D6-4D2C-B1F0-90D7CFB4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求职准备中的重复工作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43436-AAAB-471E-B891-3DB49A98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6474277-D8A3-4471-A009-F5403586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岗位不明确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95B0F616-8D69-4819-9146-445489F0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同一份简历投向不同岗位，</a:t>
            </a:r>
          </a:p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难以判断该突出哪些经历。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BC30A0DA-24C5-465D-87B3-CE05C9D9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材料分散</a:t>
            </a:r>
          </a:p>
        </p:txBody>
      </p:sp>
      <p:sp>
        <p:nvSpPr>
          <p:cNvPr id="6" name="body-3">
            <a:extLst xmlns:a="http://schemas.openxmlformats.org/drawingml/2006/main">
              <a:ext uri="{FF2B5EF4-FFF2-40B4-BE49-F238E27FC236}">
                <a16:creationId xmlns:a16="http://schemas.microsoft.com/office/drawing/2014/main" id="{99984037-94C0-422E-B8C4-DFE0E0E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项目说明、JD、面试笔记与</a:t>
            </a:r>
          </a:p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投递进度散落在不同文件里。</a:t>
            </a:r>
          </a:p>
        </p:txBody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4154E3E8-7BE0-4C3B-ABCC-E0C63BF6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一次求职准备</a:t>
            </a:r>
          </a:p>
        </p:txBody>
      </p:sp>
      <p:sp>
        <p:nvSpPr>
          <p:cNvPr id="8" name="body-5">
            <a:extLst xmlns:a="http://schemas.openxmlformats.org/drawingml/2006/main">
              <a:ext uri="{FF2B5EF4-FFF2-40B4-BE49-F238E27FC236}">
                <a16:creationId xmlns:a16="http://schemas.microsoft.com/office/drawing/2014/main" id="{BF6A3188-5A78-4EB5-8957-82C2A098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90875"/>
            <a:ext cx="5048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明确岗位</a:t>
            </a:r>
          </a:p>
          <a:p xmlns:a="http://schemas.openxmlformats.org/drawingml/2006/main">
            <a: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整理证据与修改简历</a:t>
            </a:r>
          </a:p>
          <a:p xmlns:a="http://schemas.openxmlformats.org/drawingml/2006/main">
            <a: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练习面试并记录投递</a:t>
            </a:r>
          </a:p>
          <a:p xmlns:a="http://schemas.openxmlformats.org/drawingml/2006/main">
            <a: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导出可复用的材料</a:t>
            </a:r>
          </a:p>
        </p:txBody>
      </p:sp>
      <p:sp>
        <p:nvSpPr>
          <p:cNvPr id="9" name="body-6">
            <a:extLst xmlns:a="http://schemas.openxmlformats.org/drawingml/2006/main">
              <a:ext uri="{FF2B5EF4-FFF2-40B4-BE49-F238E27FC236}">
                <a16:creationId xmlns:a16="http://schemas.microsoft.com/office/drawing/2014/main" id="{93E15528-5072-408F-B562-90FE72B8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181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目标岗位是后续分析的前提，信息不足时先追问。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25F69A-AA87-46BB-8613-B52AA693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845395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ing">
            <a:extLst xmlns:a="http://schemas.openxmlformats.org/drawingml/2006/main">
              <a:ext uri="{FF2B5EF4-FFF2-40B4-BE49-F238E27FC236}">
                <a16:creationId xmlns:a16="http://schemas.microsoft.com/office/drawing/2014/main" id="{BEADDCA0-5713-4BD9-9406-7DBABFE6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界面、模型与业务服务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EF6B5-2DCB-40C0-92D2-667F29BE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D0135-1618-43EA-880C-7E783A52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14875"/>
            <a:ext cx="1000125" cy="9525"/>
          </a:xfrm>
          <a:custGeom xmlns:a="http://schemas.openxmlformats.org/drawingml/2006/main"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D4BA0-B53D-4E98-82E9-0E603A08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325" y="4714875"/>
            <a:ext cx="114050" cy="48220"/>
          </a:xfrm>
          <a:custGeom xmlns:a="http://schemas.openxmlformats.org/drawingml/2006/main">
            <a:pathLst>
              <a:path w="114050" h="48220">
                <a:moveTo>
                  <a:pt x="114050" y="0"/>
                </a:moveTo>
                <a:lnTo>
                  <a:pt x="0" y="482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B3FA7-7A9C-4A5E-8A50-0B8619D4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325" y="4666655"/>
            <a:ext cx="114050" cy="48220"/>
          </a:xfrm>
          <a:custGeom xmlns:a="http://schemas.openxmlformats.org/drawingml/2006/main">
            <a:pathLst>
              <a:path w="114050" h="48220">
                <a:moveTo>
                  <a:pt x="114050" y="482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CFF74-4998-417B-8423-75D19347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14875"/>
            <a:ext cx="1047750" cy="9525"/>
          </a:xfrm>
          <a:custGeom xmlns:a="http://schemas.openxmlformats.org/drawingml/2006/main"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E91F6-8350-4073-BFF0-1F919A6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825" y="4714875"/>
            <a:ext cx="114050" cy="48220"/>
          </a:xfrm>
          <a:custGeom xmlns:a="http://schemas.openxmlformats.org/drawingml/2006/main">
            <a:pathLst>
              <a:path w="114050" h="48220">
                <a:moveTo>
                  <a:pt x="114050" y="0"/>
                </a:moveTo>
                <a:lnTo>
                  <a:pt x="0" y="482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9D229-DBE6-4AF1-B1CC-F0ECBA23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825" y="4666655"/>
            <a:ext cx="114050" cy="48220"/>
          </a:xfrm>
          <a:custGeom xmlns:a="http://schemas.openxmlformats.org/drawingml/2006/main">
            <a:pathLst>
              <a:path w="114050" h="48220">
                <a:moveTo>
                  <a:pt x="114050" y="482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F8550-D1A2-4283-994F-25E4BA41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714875"/>
            <a:ext cx="1000125" cy="9525"/>
          </a:xfrm>
          <a:custGeom xmlns:a="http://schemas.openxmlformats.org/drawingml/2006/main"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4E06D-186B-43C2-982F-59DAE0A8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700" y="4714875"/>
            <a:ext cx="114050" cy="48220"/>
          </a:xfrm>
          <a:custGeom xmlns:a="http://schemas.openxmlformats.org/drawingml/2006/main">
            <a:pathLst>
              <a:path w="114050" h="48220">
                <a:moveTo>
                  <a:pt x="114050" y="0"/>
                </a:moveTo>
                <a:lnTo>
                  <a:pt x="0" y="482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5575A-D1E5-4EAD-B6B8-1DB574AF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700" y="4666655"/>
            <a:ext cx="114050" cy="48220"/>
          </a:xfrm>
          <a:custGeom xmlns:a="http://schemas.openxmlformats.org/drawingml/2006/main">
            <a:pathLst>
              <a:path w="114050" h="48220">
                <a:moveTo>
                  <a:pt x="114050" y="482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A3639-EFB8-4260-A230-2E614595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9525" cy="857250"/>
          </a:xfrm>
          <a:custGeom xmlns:a="http://schemas.openxmlformats.org/drawingml/2006/main">
            <a:pathLst>
              <a:path w="9525" h="857250">
                <a:moveTo>
                  <a:pt x="0" y="857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7058A-03CB-43CD-BD95-B7D6140D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48220" cy="114050"/>
          </a:xfrm>
          <a:custGeom xmlns:a="http://schemas.openxmlformats.org/drawingml/2006/main">
            <a:pathLst>
              <a:path w="48220" h="114050">
                <a:moveTo>
                  <a:pt x="0" y="0"/>
                </a:moveTo>
                <a:lnTo>
                  <a:pt x="48220" y="114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6EF76-3936-4008-BC34-4831C5FB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530" y="3333750"/>
            <a:ext cx="48220" cy="114050"/>
          </a:xfrm>
          <a:custGeom xmlns:a="http://schemas.openxmlformats.org/drawingml/2006/main">
            <a:pathLst>
              <a:path w="48220" h="114050">
                <a:moveTo>
                  <a:pt x="48220" y="0"/>
                </a:moveTo>
                <a:lnTo>
                  <a:pt x="0" y="114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774D6-F12A-40CA-9316-A72177B4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38750"/>
            <a:ext cx="9525" cy="762000"/>
          </a:xfrm>
          <a:custGeom xmlns:a="http://schemas.openxmlformats.org/drawingml/2006/main"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0ECAA-EA95-4D48-B304-4762FD38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655" y="5886700"/>
            <a:ext cx="48220" cy="114050"/>
          </a:xfrm>
          <a:custGeom xmlns:a="http://schemas.openxmlformats.org/drawingml/2006/main">
            <a:pathLst>
              <a:path w="48220" h="114050">
                <a:moveTo>
                  <a:pt x="48220" y="114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10954-9178-4D9C-A6CE-8461C8C8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886700"/>
            <a:ext cx="48220" cy="114050"/>
          </a:xfrm>
          <a:custGeom xmlns:a="http://schemas.openxmlformats.org/drawingml/2006/main">
            <a:pathLst>
              <a:path w="48220" h="114050">
                <a:moveTo>
                  <a:pt x="0" y="114050"/>
                </a:moveTo>
                <a:lnTo>
                  <a:pt x="482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E15D1-EDC6-4B01-824C-E66B647A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000750"/>
            <a:ext cx="6429375" cy="9525"/>
          </a:xfrm>
          <a:custGeom xmlns:a="http://schemas.openxmlformats.org/drawingml/2006/main">
            <a:pathLst>
              <a:path w="6429375" h="9525">
                <a:moveTo>
                  <a:pt x="0" y="0"/>
                </a:moveTo>
                <a:lnTo>
                  <a:pt x="6429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5B06A5-A63F-415D-B387-40D24214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200" y="6000750"/>
            <a:ext cx="114050" cy="48220"/>
          </a:xfrm>
          <a:custGeom xmlns:a="http://schemas.openxmlformats.org/drawingml/2006/main">
            <a:pathLst>
              <a:path w="114050" h="48220">
                <a:moveTo>
                  <a:pt x="114050" y="0"/>
                </a:moveTo>
                <a:lnTo>
                  <a:pt x="0" y="482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5B90B-9D46-4C53-A6A4-2773776E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200" y="5952530"/>
            <a:ext cx="114050" cy="48220"/>
          </a:xfrm>
          <a:custGeom xmlns:a="http://schemas.openxmlformats.org/drawingml/2006/main">
            <a:pathLst>
              <a:path w="114050" h="48220">
                <a:moveTo>
                  <a:pt x="114050" y="482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92904B-E7F0-4096-BAB7-F6ABC479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38750"/>
            <a:ext cx="9525" cy="762000"/>
          </a:xfrm>
          <a:custGeom xmlns:a="http://schemas.openxmlformats.org/drawingml/2006/main">
            <a:pathLst>
              <a:path w="9525" h="762000">
                <a:moveTo>
                  <a:pt x="0" y="762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CBD34-9C34-4BA6-825F-BBA39672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38750"/>
            <a:ext cx="48220" cy="114050"/>
          </a:xfrm>
          <a:custGeom xmlns:a="http://schemas.openxmlformats.org/drawingml/2006/main">
            <a:pathLst>
              <a:path w="48220" h="114050">
                <a:moveTo>
                  <a:pt x="0" y="0"/>
                </a:moveTo>
                <a:lnTo>
                  <a:pt x="48220" y="114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2B9AC-520B-4285-8103-8797C535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030" y="5238750"/>
            <a:ext cx="48220" cy="114050"/>
          </a:xfrm>
          <a:custGeom xmlns:a="http://schemas.openxmlformats.org/drawingml/2006/main">
            <a:pathLst>
              <a:path w="48220" h="114050">
                <a:moveTo>
                  <a:pt x="48220" y="0"/>
                </a:moveTo>
                <a:lnTo>
                  <a:pt x="0" y="114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57C7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B0DE6-539D-4810-A6ED-C8267227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8"/>
          </a:solidFill>
          <a:ln xmlns:a="http://schemas.openxmlformats.org/drawingml/2006/main" w="9525">
            <a:solidFill>
              <a:srgbClr val="CBD6C8"/>
            </a:solidFill>
          </a:ln>
        </p:spPr>
      </p:sp>
      <p:sp>
        <p:nvSpPr>
          <p:cNvPr id="25" name="diagram-0-title">
            <a:extLst xmlns:a="http://schemas.openxmlformats.org/drawingml/2006/main">
              <a:ext uri="{FF2B5EF4-FFF2-40B4-BE49-F238E27FC236}">
                <a16:creationId xmlns:a16="http://schemas.microsoft.com/office/drawing/2014/main" id="{40F08C7B-D940-4DAD-8389-A6AC57B9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用户 / Web</a:t>
            </a:r>
          </a:p>
        </p:txBody>
      </p:sp>
      <p:sp>
        <p:nvSpPr>
          <p:cNvPr id="26" name="diagram-0-subtitle">
            <a:extLst xmlns:a="http://schemas.openxmlformats.org/drawingml/2006/main">
              <a:ext uri="{FF2B5EF4-FFF2-40B4-BE49-F238E27FC236}">
                <a16:creationId xmlns:a16="http://schemas.microsoft.com/office/drawing/2014/main" id="{96ACA1D4-C5D5-479B-A30F-69397336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529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填写与对话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E0F782-AE98-4FD5-9A83-2C880F9A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8"/>
          </a:solidFill>
          <a:ln xmlns:a="http://schemas.openxmlformats.org/drawingml/2006/main" w="9525">
            <a:solidFill>
              <a:srgbClr val="CBD6C8"/>
            </a:solidFill>
          </a:ln>
        </p:spPr>
      </p:sp>
      <p:sp>
        <p:nvSpPr>
          <p:cNvPr id="28" name="diagram-1-title">
            <a:extLst xmlns:a="http://schemas.openxmlformats.org/drawingml/2006/main">
              <a:ext uri="{FF2B5EF4-FFF2-40B4-BE49-F238E27FC236}">
                <a16:creationId xmlns:a16="http://schemas.microsoft.com/office/drawing/2014/main" id="{9A62BE36-1A84-46EA-8FFE-7C8D70D7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5292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Agent 循环</a:t>
            </a:r>
          </a:p>
        </p:txBody>
      </p:sp>
      <p:sp>
        <p:nvSpPr>
          <p:cNvPr id="29" name="diagram-1-subtitle">
            <a:extLst xmlns:a="http://schemas.openxmlformats.org/drawingml/2006/main">
              <a:ext uri="{FF2B5EF4-FFF2-40B4-BE49-F238E27FC236}">
                <a16:creationId xmlns:a16="http://schemas.microsoft.com/office/drawing/2014/main" id="{8EF8B5F4-1F78-4F08-A182-0534C328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529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工具白名单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F69DF7-4BA4-4367-A208-574BB8CC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910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8"/>
          </a:solidFill>
          <a:ln xmlns:a="http://schemas.openxmlformats.org/drawingml/2006/main" w="9525">
            <a:solidFill>
              <a:srgbClr val="CBD6C8"/>
            </a:solidFill>
          </a:ln>
        </p:spPr>
      </p:sp>
      <p:sp>
        <p:nvSpPr>
          <p:cNvPr id="31" name="diagram-2-title">
            <a:extLst xmlns:a="http://schemas.openxmlformats.org/drawingml/2006/main">
              <a:ext uri="{FF2B5EF4-FFF2-40B4-BE49-F238E27FC236}">
                <a16:creationId xmlns:a16="http://schemas.microsoft.com/office/drawing/2014/main" id="{355D3144-098A-4891-99AC-71134DD6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5292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sp>
        <p:nvSpPr>
          <p:cNvPr id="32" name="diagram-2-subtitle">
            <a:extLst xmlns:a="http://schemas.openxmlformats.org/drawingml/2006/main">
              <a:ext uri="{FF2B5EF4-FFF2-40B4-BE49-F238E27FC236}">
                <a16:creationId xmlns:a16="http://schemas.microsoft.com/office/drawing/2014/main" id="{8272DF3E-40A8-4820-925E-9EEB44AE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529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规则与证据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B250A-4A4B-4B9B-9B62-6CAEBA47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8"/>
          </a:solidFill>
          <a:ln xmlns:a="http://schemas.openxmlformats.org/drawingml/2006/main" w="9525">
            <a:solidFill>
              <a:srgbClr val="CBD6C8"/>
            </a:solidFill>
          </a:ln>
        </p:spPr>
      </p:sp>
      <p:sp>
        <p:nvSpPr>
          <p:cNvPr id="34" name="diagram-3-title">
            <a:extLst xmlns:a="http://schemas.openxmlformats.org/drawingml/2006/main">
              <a:ext uri="{FF2B5EF4-FFF2-40B4-BE49-F238E27FC236}">
                <a16:creationId xmlns:a16="http://schemas.microsoft.com/office/drawing/2014/main" id="{56434C75-8527-4D7B-85A4-5C10E5CC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5292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本地数据</a:t>
            </a:r>
          </a:p>
        </p:txBody>
      </p:sp>
      <p:sp>
        <p:nvSpPr>
          <p:cNvPr id="35" name="diagram-3-subtitle">
            <a:extLst xmlns:a="http://schemas.openxmlformats.org/drawingml/2006/main">
              <a:ext uri="{FF2B5EF4-FFF2-40B4-BE49-F238E27FC236}">
                <a16:creationId xmlns:a16="http://schemas.microsoft.com/office/drawing/2014/main" id="{D0ACCF70-D405-400E-B477-2CDD30AE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529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SQLite / 文件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613DD9-07DF-4FA5-8976-17E55B0D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542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8"/>
          </a:solidFill>
          <a:ln xmlns:a="http://schemas.openxmlformats.org/drawingml/2006/main" w="9525">
            <a:solidFill>
              <a:srgbClr val="CBD6C8"/>
            </a:solidFill>
          </a:ln>
        </p:spPr>
      </p:sp>
      <p:sp>
        <p:nvSpPr>
          <p:cNvPr id="37" name="diagram-4-title">
            <a:extLst xmlns:a="http://schemas.openxmlformats.org/drawingml/2006/main">
              <a:ext uri="{FF2B5EF4-FFF2-40B4-BE49-F238E27FC236}">
                <a16:creationId xmlns:a16="http://schemas.microsoft.com/office/drawing/2014/main" id="{B1E69058-5BD6-4239-94C8-C3658970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4317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Ollama · Qwen3 1.7B</a:t>
            </a:r>
          </a:p>
        </p:txBody>
      </p:sp>
      <p:sp>
        <p:nvSpPr>
          <p:cNvPr id="38" name="diagram-4-subtitle">
            <a:extLst xmlns:a="http://schemas.openxmlformats.org/drawingml/2006/main">
              <a:ext uri="{FF2B5EF4-FFF2-40B4-BE49-F238E27FC236}">
                <a16:creationId xmlns:a16="http://schemas.microsoft.com/office/drawing/2014/main" id="{E9420402-4F02-4237-A37A-F125E60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43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OpenAI 兼容接口</a:t>
            </a:r>
          </a:p>
        </p:txBody>
      </p:sp>
      <p:sp>
        <p:nvSpPr>
          <p:cNvPr id="39" name="body-1">
            <a:extLst xmlns:a="http://schemas.openxmlformats.org/drawingml/2006/main">
              <a:ext uri="{FF2B5EF4-FFF2-40B4-BE49-F238E27FC236}">
                <a16:creationId xmlns:a16="http://schemas.microsoft.com/office/drawing/2014/main" id="{D81516A7-DD15-4C29-98D2-9FE41301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3341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普通按钮和人工确认也调用同一业务服务</a:t>
            </a:r>
          </a:p>
        </p:txBody>
      </p:sp>
      <p:sp>
        <p:nvSpPr>
          <p:cNvPr id="40" name="body-2">
            <a:extLst xmlns:a="http://schemas.openxmlformats.org/drawingml/2006/main">
              <a:ext uri="{FF2B5EF4-FFF2-40B4-BE49-F238E27FC236}">
                <a16:creationId xmlns:a16="http://schemas.microsoft.com/office/drawing/2014/main" id="{CBFAD093-8BFD-4872-8767-D6D56558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961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模型选择工具，服务端校验参数、读取材料、保存结果。</a:t>
            </a:r>
          </a:p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默认仅访问本机，模型不能直接写 SQL 或任意文件。</a:t>
            </a:r>
          </a:p>
        </p:txBody>
      </p:sp>
      <p:sp>
        <p:nvSpPr>
          <p:cNvPr id="4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E13BF5-3259-4E39-A0CF-8BCC5A69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642853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ing">
            <a:extLst xmlns:a="http://schemas.openxmlformats.org/drawingml/2006/main">
              <a:ext uri="{FF2B5EF4-FFF2-40B4-BE49-F238E27FC236}">
                <a16:creationId xmlns:a16="http://schemas.microsoft.com/office/drawing/2014/main" id="{7C2E792A-2302-4E5F-9D2A-F1CDD3B5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材料类别决定事实边界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F5518-CD0C-481C-B5EF-0AA53136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AD0E8-1A7F-4EBB-BE6F-24ECD7845FB9}"/>
              </a:ext>
            </a:extLst>
          </p:cNvPr>
          <p:cNvGraphicFramePr/>
          <p:nvPr/>
        </p:nvGraphicFramePr>
        <p:xfrm>
          <a:off xmlns:a="http://schemas.openxmlformats.org/drawingml/2006/main" x="952500" y="2571750"/>
          <a:ext xmlns:a="http://schemas.openxmlformats.org/drawingml/2006/main" cx="118110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  <a:gridCol w="4191000"/>
              </a:tblGrid>
              <a:tr h="1066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材料类别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能否证明本人经历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</a:tr>
              <a:tr h="1066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简历 / 项目 / 成绩单</a:t>
                      </a:r>
                    </a:p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技能 / 证书 / 作品集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提取个人事实与能力证据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可以，但仍由本人核对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1066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 JD / 校招通知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岗位要求与截止事项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1066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面试题库 / 优秀范例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练习题与表达参考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6DD36-0F43-4DF8-8E21-37B962CA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EF014-A68A-4F2E-9025-325AE0F8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35226-4D2E-44DC-996C-74F5B922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3CD1B-1FFA-41D9-89D6-768B9D17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389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0DBB8739-D592-49A7-BF85-B9BE848F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91375"/>
            <a:ext cx="1181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支持粘贴文本与 TXT、MD、DOCX、文本型 PDF。</a:t>
            </a:r>
          </a:p>
          <a:p xmlns:a="http://schemas.openxmlformats.org/drawingml/2006/main">
            <a: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示例档案单独保存，不混入真实简历。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0BEE74-3CBA-471A-829C-8C092118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521850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ing">
            <a:extLst xmlns:a="http://schemas.openxmlformats.org/drawingml/2006/main">
              <a:ext uri="{FF2B5EF4-FFF2-40B4-BE49-F238E27FC236}">
                <a16:creationId xmlns:a16="http://schemas.microsoft.com/office/drawing/2014/main" id="{C88C6067-B811-48A2-A7F6-144CBDC7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岗位匹配与能力映射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0BFA4-D607-4BF7-9C74-32D658C7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E6C6769-6E55-45E8-947F-FD575664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181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显式技能覆盖率 = 有个人材料证据的技能数 / JD 中识别出的技能数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1F2A9-1E3D-49B1-B8F4-03A04CBF2B40}"/>
              </a:ext>
            </a:extLst>
          </p:cNvPr>
          <p:cNvGraphicFramePr/>
          <p:nvPr/>
        </p:nvGraphicFramePr>
        <p:xfrm>
          <a:off xmlns:a="http://schemas.openxmlformats.org/drawingml/2006/main" x="952500" y="3381375"/>
          <a:ext xmlns:a="http://schemas.openxmlformats.org/drawingml/2006/main" cx="118110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2381250"/>
                <a:gridCol w="4381500"/>
              </a:tblGrid>
              <a:tr h="1066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个人材料片段（虚构示例）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能力标签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简历表达边界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</a:tr>
              <a:tr h="1066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“使用 Python 实现数据处理”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应用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保留实际任务，不补造性能提升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1066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“用 Ollama 调用本地模型”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工具应用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不能推断为模型训练经验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24E1F-0177-4A33-AEA7-FCC28B82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4817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2EC56-F14C-4B16-851B-E63421A5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1497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AC4A9-C772-48A0-A65C-51947DF4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8177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7D977611-228A-47E0-8FE3-23AECA49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00875"/>
            <a:ext cx="1181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每条能力附来源与原文片段，便于回到材料核对。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0DDC815E-C1FE-4F72-9552-BC92742F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39050"/>
            <a:ext cx="1181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覆盖率不预测录用。未出现证据，也不等于用户不会。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53E7D0-C721-4173-BDB6-44A2F086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1734282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eading">
            <a:extLst xmlns:a="http://schemas.openxmlformats.org/drawingml/2006/main">
              <a:ext uri="{FF2B5EF4-FFF2-40B4-BE49-F238E27FC236}">
                <a16:creationId xmlns:a16="http://schemas.microsoft.com/office/drawing/2014/main" id="{641D843A-D824-4837-8F96-2CBA410B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公司与岗位适配推荐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4D044-9898-4D89-80A0-B353E2F1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245B1DC-9154-42A8-B607-C5BFCCF2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181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个人材料与岗位库共同决定推荐依据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09107-2A82-4405-8AB5-C7503C658734}"/>
              </a:ext>
            </a:extLst>
          </p:cNvPr>
          <p:cNvGraphicFramePr/>
          <p:nvPr/>
        </p:nvGraphicFramePr>
        <p:xfrm>
          <a:off xmlns:a="http://schemas.openxmlformats.org/drawingml/2006/main" x="952500" y="3143250"/>
          <a:ext xmlns:a="http://schemas.openxmlformats.org/drawingml/2006/main" cx="11811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619625"/>
                <a:gridCol w="4714875"/>
              </a:tblGrid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处理环节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当前实现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输出与限制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个人技能画像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原文证据标签与维度雷达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只反映材料证据覆盖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公司与岗位库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手动录入 JD、公司资料和来源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不自动抓取招聘平台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适配度排序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同义词与相关技术部分匹配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Spring 经验不等同 Spring Boot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差距与行动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缺口建议、补充材料后重算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 CSV / Excel 投递清单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F129A-2E48-4FC0-988C-38FEE8AB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946E8-4988-417B-80D6-895AC339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EE0E0-7E54-4C2A-AFC8-85F9A553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32902-C829-45DC-ADA2-732EA715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198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2A440-0666-41E1-B83F-70AB0DD5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FB0343AF-6DF2-4E15-86C8-08B45AEF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29500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推荐分数用于安排准备顺序，不能推断录取概率。</a:t>
            </a:r>
          </a:p>
          <a:p xmlns:a="http://schemas.openxmlformats.org/drawingml/2006/main">
            <a: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公司文化、招聘状态和未识别要求仍需人工核对。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124D5A-848D-4AEA-A1D2-E6546516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318783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ing">
            <a:extLst xmlns:a="http://schemas.openxmlformats.org/drawingml/2006/main">
              <a:ext uri="{FF2B5EF4-FFF2-40B4-BE49-F238E27FC236}">
                <a16:creationId xmlns:a16="http://schemas.microsoft.com/office/drawing/2014/main" id="{1695E1B1-19BB-48C4-B246-ACD72C31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一句话串联真实工具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1EE21-5488-4FA7-900D-D618E3AD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AD7E591A-ACEB-4003-8955-626430D8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181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“分析我与目标岗位的匹配度，再生成简历并导出材料包。”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D298CC1D-075E-4BF8-93D5-5CAF22E9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4AACDA0E-75C7-4C13-BDC5-871FC0E2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576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模型选择工具及参数</a:t>
            </a:r>
          </a:p>
        </p:txBody>
      </p:sp>
      <p:sp>
        <p:nvSpPr>
          <p:cNvPr id="6" name="body-3">
            <a:extLst xmlns:a="http://schemas.openxmlformats.org/drawingml/2006/main">
              <a:ext uri="{FF2B5EF4-FFF2-40B4-BE49-F238E27FC236}">
                <a16:creationId xmlns:a16="http://schemas.microsoft.com/office/drawing/2014/main" id="{26C824F7-5C91-42B0-B752-FB415C24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0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analyze_fit(export_kind="bundle")</a:t>
            </a:r>
          </a:p>
        </p:txBody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1DCC2258-F733-4A42-BBB6-EAE35578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body-5">
            <a:extLst xmlns:a="http://schemas.openxmlformats.org/drawingml/2006/main">
              <a:ext uri="{FF2B5EF4-FFF2-40B4-BE49-F238E27FC236}">
                <a16:creationId xmlns:a16="http://schemas.microsoft.com/office/drawing/2014/main" id="{120D9A08-B300-480B-9AC6-878D1820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服务端组合执行并回传</a:t>
            </a:r>
          </a:p>
        </p:txBody>
      </p:sp>
      <p:sp>
        <p:nvSpPr>
          <p:cNvPr id="9" name="body-6">
            <a:extLst xmlns:a="http://schemas.openxmlformats.org/drawingml/2006/main">
              <a:ext uri="{FF2B5EF4-FFF2-40B4-BE49-F238E27FC236}">
                <a16:creationId xmlns:a16="http://schemas.microsoft.com/office/drawing/2014/main" id="{D77475FF-15C6-40AC-AB01-B5D7EB5F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388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分析岗位匹配，整理简历，生成实际材料包。</a:t>
            </a:r>
          </a:p>
        </p:txBody>
      </p:sp>
      <p:sp>
        <p:nvSpPr>
          <p:cNvPr id="10" name="body-7">
            <a:extLst xmlns:a="http://schemas.openxmlformats.org/drawingml/2006/main">
              <a:ext uri="{FF2B5EF4-FFF2-40B4-BE49-F238E27FC236}">
                <a16:creationId xmlns:a16="http://schemas.microsoft.com/office/drawing/2014/main" id="{95E57368-A03B-4B9C-9271-4F74D855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627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B68B4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body-8">
            <a:extLst xmlns:a="http://schemas.openxmlformats.org/drawingml/2006/main">
              <a:ext uri="{FF2B5EF4-FFF2-40B4-BE49-F238E27FC236}">
                <a16:creationId xmlns:a16="http://schemas.microsoft.com/office/drawing/2014/main" id="{063AB2BF-F12F-4D41-A060-5C04C650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715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界面展示结果与执行记录</a:t>
            </a:r>
          </a:p>
        </p:txBody>
      </p:sp>
      <p:sp>
        <p:nvSpPr>
          <p:cNvPr id="12" name="body-9">
            <a:extLst xmlns:a="http://schemas.openxmlformats.org/drawingml/2006/main">
              <a:ext uri="{FF2B5EF4-FFF2-40B4-BE49-F238E27FC236}">
                <a16:creationId xmlns:a16="http://schemas.microsoft.com/office/drawing/2014/main" id="{ED9DC9D5-5C5F-45D0-969E-78659290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2675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一次调用可包含多个业务操作，执行记录如实展示。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2A7BBF-1BF6-442C-8015-CFC02B83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0823433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ing">
            <a:extLst xmlns:a="http://schemas.openxmlformats.org/drawingml/2006/main">
              <a:ext uri="{FF2B5EF4-FFF2-40B4-BE49-F238E27FC236}">
                <a16:creationId xmlns:a16="http://schemas.microsoft.com/office/drawing/2014/main" id="{1E7BFAB8-BD93-4755-9CBD-625C4E1E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STAR 整理与缺失信息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08BF0-F322-47FE-BB2A-7DC4655F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2A838-7A29-4A6F-9CBD-F934FCAEDEFD}"/>
              </a:ext>
            </a:extLst>
          </p:cNvPr>
          <p:cNvGraphicFramePr/>
          <p:nvPr/>
        </p:nvGraphicFramePr>
        <p:xfrm>
          <a:off xmlns:a="http://schemas.openxmlformats.org/drawingml/2006/main" x="952500" y="2381250"/>
          <a:ext xmlns:a="http://schemas.openxmlformats.org/drawingml/2006/main" cx="118110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524500"/>
                <a:gridCol w="3905250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整理内容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资料不足时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· 背景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项目背景与使用场景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背景【需确认】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 · 任务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本人负责的任务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个人职责【需确认】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· 行动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实际采用的方案与操作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补充本人行动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 · 结果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材料中已提供的结果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成果与衡量方式【需确认】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F2DCD-B5AE-44D0-815F-488924FE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2F0D3-34BE-40BF-BFC8-4426528B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293FD-272F-476E-BB92-DACA863D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086F7-7235-46C2-A09D-B5E64EFC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E5E65-7DB8-48D6-9E9C-EF8C3128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05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9" name="body-1">
            <a:extLst xmlns:a="http://schemas.openxmlformats.org/drawingml/2006/main">
              <a:ext uri="{FF2B5EF4-FFF2-40B4-BE49-F238E27FC236}">
                <a16:creationId xmlns:a16="http://schemas.microsoft.com/office/drawing/2014/main" id="{87BFDFD2-4D40-4108-8552-0FE6F56C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0"/>
            <a:ext cx="1181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保守整理原有事实，提供可直接修改的简历正文。</a:t>
            </a:r>
          </a:p>
          <a:p xmlns:a="http://schemas.openxmlformats.org/drawingml/2006/main">
            <a:pPr algn="l">
              <a:def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未提供的数字、获奖、实习与成绩不会自动补成事实。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AE6E09-D325-418B-9288-FB720A80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157404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ing">
            <a:extLst xmlns:a="http://schemas.openxmlformats.org/drawingml/2006/main">
              <a:ext uri="{FF2B5EF4-FFF2-40B4-BE49-F238E27FC236}">
                <a16:creationId xmlns:a16="http://schemas.microsoft.com/office/drawing/2014/main" id="{845C229B-3857-4226-9CCF-E78193C2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面试、台账与材料复用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B004C-BC57-4A88-9179-3F8A3EF0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236C4-262E-4900-99D1-DBAA152F1715}"/>
              </a:ext>
            </a:extLst>
          </p:cNvPr>
          <p:cNvGraphicFramePr/>
          <p:nvPr/>
        </p:nvGraphicFramePr>
        <p:xfrm>
          <a:off xmlns:a="http://schemas.openxmlformats.org/drawingml/2006/main" x="952500" y="2571750"/>
          <a:ext xmlns:a="http://schemas.openxmlformats.org/drawingml/2006/main" cx="118110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762500"/>
                <a:gridCol w="4572000"/>
              </a:tblGrid>
              <a:tr h="1238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产出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</a:tr>
              <a:tr h="1238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模拟面试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道练习题、逐题答案与反馈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表达完整度分，不等同企业评分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1238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投递跟踪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公司、岗位、状态、截止日期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变更需本人确认，不对外投递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1238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材料导出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简历、面试清单与材料 ZIP</a:t>
                      </a:r>
                    </a:p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推荐清单 CSV / Excel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【需确认】内容需补齐后再使用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6860-24FB-4FDB-AB2B-6C923A61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1750C-EDC5-4488-AF0F-88C322BE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17069-17FA-4365-90E9-B7028B40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755A1-2044-47FA-91F5-1AC4996F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247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D6610340-3B75-44B2-91F6-A371959C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15250"/>
            <a:ext cx="1181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本周事项来自已导入通知和本地台账，不自动抓取招聘网站。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B45775-8DFB-483C-8CAA-AE8A3944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1855891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ing">
            <a:extLst xmlns:a="http://schemas.openxmlformats.org/drawingml/2006/main">
              <a:ext uri="{FF2B5EF4-FFF2-40B4-BE49-F238E27FC236}">
                <a16:creationId xmlns:a16="http://schemas.microsoft.com/office/drawing/2014/main" id="{7B8F3539-6AAE-4900-AD3E-ECB200E2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课程增量与使用边界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4A026-3306-4574-A6B4-CD221611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E14A433-8B1B-416F-B111-C6DD92AF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课堂参考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44F2ADA4-5287-476B-A01B-0EBD5361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demo_2 的工具调用协议</a:t>
            </a:r>
          </a:p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demo_1 的本地模型交互思路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8B4D7B4D-2882-495D-B743-9C18A9D8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本项目增量</a:t>
            </a:r>
          </a:p>
        </p:txBody>
      </p:sp>
      <p:sp>
        <p:nvSpPr>
          <p:cNvPr id="6" name="body-3">
            <a:extLst xmlns:a="http://schemas.openxmlformats.org/drawingml/2006/main">
              <a:ext uri="{FF2B5EF4-FFF2-40B4-BE49-F238E27FC236}">
                <a16:creationId xmlns:a16="http://schemas.microsoft.com/office/drawing/2014/main" id="{D074B661-1801-48AC-A55D-B613D5B2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求职业务后端与资料来源分区</a:t>
            </a:r>
          </a:p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岗位推荐、STAR、练习与台账</a:t>
            </a:r>
          </a:p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确认流程和多格式材料导出</a:t>
            </a:r>
          </a:p>
        </p:txBody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D7DF1DBA-343B-4152-A624-69E0B971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8" name="body-5">
            <a:extLst xmlns:a="http://schemas.openxmlformats.org/drawingml/2006/main">
              <a:ext uri="{FF2B5EF4-FFF2-40B4-BE49-F238E27FC236}">
                <a16:creationId xmlns:a16="http://schemas.microsoft.com/office/drawing/2014/main" id="{664CE84B-4BC9-4097-AF49-EAADC727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5048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经历来自本人材料</a:t>
            </a:r>
          </a:p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模型请求默认留在本机</a:t>
            </a:r>
          </a:p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真实资料不进入公开仓库</a:t>
            </a:r>
          </a:p>
          <a:p xmlns:a="http://schemas.openxmlformats.org/drawingml/2006/main">
            <a:pPr algn="l">
              <a:def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课堂展示使用虚构示例</a:t>
            </a:r>
          </a:p>
        </p:txBody>
      </p:sp>
      <p:sp>
        <p:nvSpPr>
          <p:cNvPr id="9" name="body-6">
            <a:extLst xmlns:a="http://schemas.openxmlformats.org/drawingml/2006/main">
              <a:ext uri="{FF2B5EF4-FFF2-40B4-BE49-F238E27FC236}">
                <a16:creationId xmlns:a16="http://schemas.microsoft.com/office/drawing/2014/main" id="{07EC3EBC-8AF9-456E-B78C-1D505821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23887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Codex 协助分析、实现、测试和汇报。</a:t>
            </a:r>
          </a:p>
          <a:p xmlns:a="http://schemas.openxmlformats.org/drawingml/2006/main">
            <a:pPr algn="l">
              <a:def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两位成员需理解代码并如实说明参与。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81AA94-5E21-4800-9B41-5DE83DDC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2840861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A7FFAE80-6B14-42B3-9948-B7C539DD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90001-396D-412E-809C-4F85AABA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CAF5245-E429-459E-85A6-E0FFFBC1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演示路径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ED699F8D-8717-4567-93B7-6FE4A746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1811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1  进入独立示例档案，查看材料与岗位库</a:t>
            </a:r>
          </a:p>
          <a:p xmlns:a="http://schemas.openxmlformats.org/drawingml/2006/main">
            <a: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2  比较推荐排序，展开证据与差距建议</a:t>
            </a:r>
          </a:p>
          <a:p xmlns:a="http://schemas.openxmlformats.org/drawingml/2006/main">
            <a: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3  导出推荐清单和简历，核对【需确认】项</a:t>
            </a:r>
          </a:p>
          <a:p xmlns:a="http://schemas.openxmlformats.org/drawingml/2006/main">
            <a:pPr algn="l">
              <a:def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4  练习一道面试题，确认一条投递记录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3D798961-7868-4F9D-9452-0D55E369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当前限制</a:t>
            </a:r>
          </a:p>
        </p:txBody>
      </p:sp>
      <p:sp>
        <p:nvSpPr>
          <p:cNvPr id="6" name="body-3">
            <a:extLst xmlns:a="http://schemas.openxmlformats.org/drawingml/2006/main">
              <a:ext uri="{FF2B5EF4-FFF2-40B4-BE49-F238E27FC236}">
                <a16:creationId xmlns:a16="http://schemas.microsoft.com/office/drawing/2014/main" id="{D1E99277-3FE8-429C-B52E-08E6AA20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53250"/>
            <a:ext cx="1181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小模型仍可能选错工具，复杂材料需人工核对。</a:t>
            </a:r>
          </a:p>
          <a:p xmlns:a="http://schemas.openxmlformats.org/drawingml/2006/main">
            <a:pPr algn="l">
              <a:def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技能词表与文本解析有边界，后续可改进检索和评分。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867EFF-7305-4373-86A9-C1536269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551974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heading">
            <a:extLst xmlns:a="http://schemas.openxmlformats.org/drawingml/2006/main">
              <a:ext uri="{FF2B5EF4-FFF2-40B4-BE49-F238E27FC236}">
                <a16:creationId xmlns:a16="http://schemas.microsoft.com/office/drawing/2014/main" id="{6D757124-7566-484C-9E62-BBCFD55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1181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功能规划与当前边界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65807-0BC1-48CF-AF17-B7047397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F3051-A0CC-4800-852F-0B10BE8375AA}"/>
              </a:ext>
            </a:extLst>
          </p:cNvPr>
          <p:cNvGraphicFramePr/>
          <p:nvPr/>
        </p:nvGraphicFramePr>
        <p:xfrm>
          <a:off xmlns:a="http://schemas.openxmlformats.org/drawingml/2006/main" x="952500" y="2381250"/>
          <a:ext xmlns:a="http://schemas.openxmlformats.org/drawingml/2006/main" cx="11811000" cy="506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714875"/>
                <a:gridCol w="4905375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当前可用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57C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后续规划，尚未实现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0E7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材料管理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文本与 PDF / DOCX 解析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 OCR、PPT / Excel 导入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简历生成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事实整理、STAR 与缺失提示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ATS 兼容性检测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岗位推荐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证据画像、岗位库与适配排序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向量语义检索、招聘数据接入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面试练习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逐题作答与表达反馈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HR 行为面、跨轮复盘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投递与导出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本地台账、本周事项与清单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主动截止提醒、多平台汇总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架构</a:t>
                      </a:r>
                    </a:p>
                  </a:txBody>
                  <a:tcPr marL="152400" marR="152400" marT="133350" marB="13335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工具白名单、参数及来源校验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意图分类、结果校验扩展</a:t>
                      </a:r>
                    </a:p>
                  </a:txBody>
                  <a:tcPr marL="152400" marR="152400" marT="133350" marB="13335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5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4F884-716D-4DCE-B50E-2109F0DD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9BB72-0761-4154-94BA-C4386284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80FAD-7A1F-4FBF-B47C-C6FD3217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43F08-0F7B-447C-81DD-A53916EC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EA03D-08F5-4305-93AA-C1DFE2CB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ED3F7-BFF5-443D-BEF0-3A2F8DF3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246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69D94-2D03-4AB2-B81E-691B2249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48550"/>
            <a:ext cx="1181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8"/>
          </a:solidFill>
          <a:ln xmlns:a="http://schemas.openxmlformats.org/drawingml/2006/main" w="0">
            <a:noFill/>
          </a:ln>
        </p:spPr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9DBBEE7C-288A-4A46-920E-5BD69865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96200"/>
            <a:ext cx="1181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新技能已纳入当前功能；规划项需分别实现、验证后再对外说明。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F142CC-55AA-419D-95C5-4EDAFBA8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1248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C70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436530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2026-10-28T10:19:24.2690000Z</dcterms:created>
  <dcterms:modified xsi:type="dcterms:W3CDTF">2026-10-28T10:19:24.2690000Z</dcterms:modified>
</coreProperties>
</file>